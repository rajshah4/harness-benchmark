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225d6c20c54f28" /><Relationship Type="http://schemas.openxmlformats.org/officeDocument/2006/relationships/extended-properties" Target="/docProps/app.xml" Id="Rf812da696c454cb8" /><Relationship Type="http://schemas.openxmlformats.org/officeDocument/2006/relationships/officeDocument" Target="/ppt/presentation.xml" Id="R752e4784e6dc4a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71ea9221e04296"/>
  </p:sldMasterIdLst>
  <p:notesMasterIdLst>
    <p:notesMasterId xmlns:r="http://schemas.openxmlformats.org/officeDocument/2006/relationships" r:id="R4c22630cc1b94ed1"/>
  </p:notesMasterIdLst>
  <p:sldIdLst>
    <p:sldId xmlns:r="http://schemas.openxmlformats.org/officeDocument/2006/relationships" id="256" r:id="R3ef2a519320d40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dfc036e9a14f1b" /><Relationship Type="http://schemas.openxmlformats.org/officeDocument/2006/relationships/slideMaster" Target="/ppt/slideMasters/slideMaster1.xml" Id="R4071ea9221e04296" /><Relationship Type="http://schemas.openxmlformats.org/officeDocument/2006/relationships/notesMaster" Target="/ppt/notesMasters/notesMaster1.xml" Id="R4c22630cc1b94ed1" /><Relationship Type="http://schemas.openxmlformats.org/officeDocument/2006/relationships/presProps" Target="/ppt/presProps.xml" Id="R84ee6240deb641ae" /><Relationship Type="http://schemas.openxmlformats.org/officeDocument/2006/relationships/tableStyles" Target="/ppt/tableStyles.xml" Id="R7505ebb93c8d42da" /><Relationship Type="http://schemas.openxmlformats.org/officeDocument/2006/relationships/slide" Target="/ppt/slides/slide1.xml" Id="R3ef2a519320d40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d9e7fe7b0d48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1ca773cc9f414a" /><Relationship Type="http://schemas.openxmlformats.org/officeDocument/2006/relationships/notesMaster" Target="/ppt/notesMasters/notesMaster1.xml" Id="Rddf47d6c246c42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The core comparison is a 2×2—OpenHands vs Pi, single vs bounded completion loop. Multi-agent helped Pi catch up, but neither multi system exceeded OpenHands single. Use this to discuss quality-per-token, not only pass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benchmark report: /Users/rajiv.shah/Code/harness-engineering/harness-benchmark/results/freight-control-tower-sonnet46.md</a:t>
            </a:r>
          </a:p>
          <a:p xmlns:a="http://schemas.openxmlformats.org/drawingml/2006/main">
            <a:r>
              <a:t>- OpenHands/Pi raw runs and provider ledgers are linked from that report.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758f0221e4f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8ad10ac88b4468" /><Relationship Type="http://schemas.openxmlformats.org/officeDocument/2006/relationships/slideLayout" Target="/ppt/slideLayouts/slideLayout1.xml" Id="R1951016d7f8846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51016d7f8846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e8b158e4840d9" /><Relationship Type="http://schemas.openxmlformats.org/officeDocument/2006/relationships/chart" Target="/ppt/slides/charts/chart1.xml" Id="R91a48abcf625494c" /><Relationship Type="http://schemas.openxmlformats.org/officeDocument/2006/relationships/hyperlink" Target="https://github.com/rajshah4/harness-benchmark/blob/main/results/freight-control-tower-sonnet46.md" TargetMode="External" Id="R3fe5ce4a55634cf5" /><Relationship Type="http://schemas.openxmlformats.org/officeDocument/2006/relationships/notesSlide" Target="/ppt/notesSlides/notesSlide1.xml" Id="Rbf9b1a4eb8e04ff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Single agent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2"/>
              <c:pt idx="0">
                <c:v>OpenHands</c:v>
              </c:pt>
              <c:pt idx="1">
                <c:v>Pi</c:v>
              </c:pt>
            </c:strLit>
          </c:cat>
          <c:val>
            <c:numLit>
              <c:formatCode>General</c:formatCode>
              <c:ptCount val="2"/>
              <c:pt idx="0">
                <c:v>6</c:v>
              </c:pt>
              <c:pt idx="1">
                <c:v>4</c:v>
              </c:pt>
            </c:numLit>
          </c:val>
        </c:ser>
        <c:ser>
          <c:idx val="1"/>
          <c:order val="1"/>
          <c:tx>
            <c:v>Multi-agent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OpenHands</c:v>
              </c:pt>
              <c:pt idx="1">
                <c:v>Pi</c:v>
              </c:pt>
            </c:strLit>
          </c:cat>
          <c:val>
            <c:numLit>
              <c:formatCode>General</c:formatCode>
              <c:ptCount val="2"/>
              <c:pt idx="0">
                <c:v>6</c:v>
              </c:pt>
              <c:pt idx="1">
                <c:v>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latin typeface="Helvetica Neue"/>
                    <a:ea typeface="Helvetica Neue"/>
                    <a:cs typeface="Helvetica Neue"/>
                  </a:rPr>
                  <a:t>Capabilities passed (of 9)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646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D3781759-B77B-481F-A3E7-416A9ECD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606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spc="1">
                <a:solidFill>
                  <a:srgbClr val="60646C"/>
                </a:solidFill>
                <a:latin typeface="Helvetica Neue"/>
                <a:ea typeface="Helvetica Neue"/>
                <a:cs typeface="Helvetica Neue"/>
              </a:rPr>
              <a:t>HARNESS ENGINEERING · AWS / SONNET 4.6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7ED5869-C60F-445D-B9F3-35CFF1EE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Orchestration closed Pi’s gap—but not cheaply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9FBC436-F960-4A4C-824F-1F1C0A6E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65B63"/>
                </a:solidFill>
                <a:latin typeface="Helvetica Neue"/>
                <a:ea typeface="Helvetica Neue"/>
                <a:cs typeface="Helvetica Neue"/>
              </a:rPr>
              <a:t>Same freight-control-tower app, model, 11 skills, AWS host, verifier, and two-repair cap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33400" y="1933575"/>
          <a:ext xmlns:a="http://schemas.openxmlformats.org/drawingml/2006/main" cx="61912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a48abcf625494c"/>
          </a:graphicData>
        </a:graphic>
      </p:graphicFrame>
      <p:sp>
        <p:nvSpPr>
          <p:cNvPr id="5" name="callout-what-we-built">
            <a:extLst xmlns:a="http://schemas.openxmlformats.org/drawingml/2006/main">
              <a:ext uri="{FF2B5EF4-FFF2-40B4-BE49-F238E27FC236}">
                <a16:creationId xmlns:a16="http://schemas.microsoft.com/office/drawing/2014/main" id="{DF01C684-1E1C-433B-805F-2AC7643E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95475"/>
            <a:ext cx="4171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HAT WE BUILT-heading">
            <a:extLst xmlns:a="http://schemas.openxmlformats.org/drawingml/2006/main">
              <a:ext uri="{FF2B5EF4-FFF2-40B4-BE49-F238E27FC236}">
                <a16:creationId xmlns:a16="http://schemas.microsoft.com/office/drawing/2014/main" id="{10FC02A1-73A2-4D5B-921A-83013244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1050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WHAT WE BUILT</a:t>
            </a:r>
          </a:p>
        </p:txBody>
      </p:sp>
      <p:sp>
        <p:nvSpPr>
          <p:cNvPr id="7" name="WHAT WE BUILT-body">
            <a:extLst xmlns:a="http://schemas.openxmlformats.org/drawingml/2006/main">
              <a:ext uri="{FF2B5EF4-FFF2-40B4-BE49-F238E27FC236}">
                <a16:creationId xmlns:a16="http://schemas.microsoft.com/office/drawing/2014/main" id="{B5001CED-198B-428D-AC51-F12DECB6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4288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durable, multi-tenant freight exception control tower</a:t>
            </a:r>
          </a:p>
        </p:txBody>
      </p:sp>
      <p:sp>
        <p:nvSpPr>
          <p:cNvPr id="8" name="callout-what-changed">
            <a:extLst xmlns:a="http://schemas.openxmlformats.org/drawingml/2006/main">
              <a:ext uri="{FF2B5EF4-FFF2-40B4-BE49-F238E27FC236}">
                <a16:creationId xmlns:a16="http://schemas.microsoft.com/office/drawing/2014/main" id="{4C75AD6D-F388-4B60-BFF0-F03CF532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05175"/>
            <a:ext cx="4171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HAT CHANGED-heading">
            <a:extLst xmlns:a="http://schemas.openxmlformats.org/drawingml/2006/main">
              <a:ext uri="{FF2B5EF4-FFF2-40B4-BE49-F238E27FC236}">
                <a16:creationId xmlns:a16="http://schemas.microsoft.com/office/drawing/2014/main" id="{5E066329-841A-46C0-937E-AB6137D1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5147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10" name="WHAT CHANGED-body">
            <a:extLst xmlns:a="http://schemas.openxmlformats.org/drawingml/2006/main">
              <a:ext uri="{FF2B5EF4-FFF2-40B4-BE49-F238E27FC236}">
                <a16:creationId xmlns:a16="http://schemas.microsoft.com/office/drawing/2014/main" id="{A572166E-0D26-45FA-BBE1-6EEC2F37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8385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Pi improved 4/9 → 6/9; OpenHands stayed 6/9</a:t>
            </a:r>
          </a:p>
        </p:txBody>
      </p:sp>
      <p:sp>
        <p:nvSpPr>
          <p:cNvPr id="11" name="callout-the-cost">
            <a:extLst xmlns:a="http://schemas.openxmlformats.org/drawingml/2006/main">
              <a:ext uri="{FF2B5EF4-FFF2-40B4-BE49-F238E27FC236}">
                <a16:creationId xmlns:a16="http://schemas.microsoft.com/office/drawing/2014/main" id="{596E1B16-1EEB-415F-B453-1EEE0260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14875"/>
            <a:ext cx="4171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HE COST-heading">
            <a:extLst xmlns:a="http://schemas.openxmlformats.org/drawingml/2006/main">
              <a:ext uri="{FF2B5EF4-FFF2-40B4-BE49-F238E27FC236}">
                <a16:creationId xmlns:a16="http://schemas.microsoft.com/office/drawing/2014/main" id="{74F606BC-DD92-4F2F-9EFF-60D4AC77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9244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A4A4A"/>
                </a:solidFill>
                <a:latin typeface="Helvetica Neue"/>
                <a:ea typeface="Helvetica Neue"/>
                <a:cs typeface="Helvetica Neue"/>
              </a:rPr>
              <a:t>THE COST</a:t>
            </a:r>
          </a:p>
        </p:txBody>
      </p:sp>
      <p:sp>
        <p:nvSpPr>
          <p:cNvPr id="13" name="THE COST-body">
            <a:extLst xmlns:a="http://schemas.openxmlformats.org/drawingml/2006/main">
              <a:ext uri="{FF2B5EF4-FFF2-40B4-BE49-F238E27FC236}">
                <a16:creationId xmlns:a16="http://schemas.microsoft.com/office/drawing/2014/main" id="{56618E57-6127-4548-966A-BFE0508C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2482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Multi: 87–99 min, ≥21–22M tokens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Single: 21–26 min, 2–3M tokens</a:t>
            </a:r>
          </a:p>
        </p:txBody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1572961F-DDAA-4978-A75F-E9A5AF8C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Harness first. Orchestration recovered gaps—but did not raise the ceiling.</a:t>
            </a:r>
          </a:p>
        </p:txBody>
      </p:sp>
      <p:sp>
        <p:nvSpPr>
          <p:cNvPr id="15" name="evidence-link">
            <a:extLst xmlns:a="http://schemas.openxmlformats.org/drawingml/2006/main">
              <a:ext uri="{FF2B5EF4-FFF2-40B4-BE49-F238E27FC236}">
                <a16:creationId xmlns:a16="http://schemas.microsoft.com/office/drawing/2014/main" id="{2A79ECBD-FA06-438D-B63C-1C678CE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u="sng">
                <a:solidFill>
                  <a:srgbClr val="1769AA"/>
                </a:solidFill>
                <a:hlinkClick xmlns:r="http://schemas.openxmlformats.org/officeDocument/2006/relationships" r:id="R3fe5ce4a55634cf5"/>
              </a:rPr>
              <a:t>Full methodology, results, and artifacts → github.com/rajshah4/harness-benchmark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F5B49766-8714-4033-98D1-19E5F073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960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064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0646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08832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2026-08-28T22:40:34.4980000Z</dcterms:created>
  <dcterms:modified xsi:type="dcterms:W3CDTF">2026-08-28T22:40:34.4980000Z</dcterms:modified>
</coreProperties>
</file>